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81" r:id="rId7"/>
    <p:sldId id="262" r:id="rId8"/>
    <p:sldId id="263" r:id="rId9"/>
    <p:sldId id="282" r:id="rId10"/>
    <p:sldId id="265" r:id="rId11"/>
    <p:sldId id="266" r:id="rId12"/>
    <p:sldId id="283" r:id="rId13"/>
    <p:sldId id="268" r:id="rId14"/>
    <p:sldId id="284" r:id="rId15"/>
    <p:sldId id="270" r:id="rId16"/>
    <p:sldId id="271" r:id="rId17"/>
    <p:sldId id="285" r:id="rId18"/>
    <p:sldId id="273" r:id="rId19"/>
    <p:sldId id="274" r:id="rId20"/>
    <p:sldId id="286" r:id="rId21"/>
    <p:sldId id="276" r:id="rId22"/>
    <p:sldId id="28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A4A"/>
    <a:srgbClr val="7D9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27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1440-B144-8657-2410-B6D50533E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72D42-1195-841D-7BA9-C51F35342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D78AC-9214-9B1B-F9F7-E710C0B8A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DCC1E-E3BC-6136-3EB4-5CB3F3D8C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58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88274-EDB3-C524-E3C2-8BE4CF84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7DF20-22C9-8156-2FF0-608E8408F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C2643-F539-6670-3F3C-8C217CA05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E8F24-30C2-0CA7-9081-1081A15BB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87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F2EE-F015-150D-A9A6-DECCD09F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9E6C1-5C00-9E18-80B0-ED695B8D0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B5289-597D-0994-F1DD-1F02470A8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7F165-199F-8624-7DD9-438E4FCCB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73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966B-9D24-1073-878E-66C19623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F0600-3FDB-F89C-9F5E-C2E40D61C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5D130-340C-0425-909C-FA2E2C425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FF287-1281-A44C-FFEB-EE0AA21B0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42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8E60-4532-1CE9-A462-9EBC8060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43FB7-0D95-E8E6-D977-FCDD232D8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0F0B4-225F-EFFF-CD7F-2999C3A48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8FF0-F5D5-01A8-644A-7D962350A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20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93035-EB78-40C3-4D15-7A85A004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EDCB3-300F-62A5-A91C-E2F34B3AE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25D49-5BCA-06EB-6D1D-58881FC1B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16ADB-7D41-E64F-2D2B-398C210F2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815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D0A4-6A18-2738-0DD9-F3A20DAB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4602F-CD3B-5A92-0E8F-DB512CEBA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AD533-F998-BED8-7726-6682C9964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C4F1C-C89F-6DFC-8600-271F7AF771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04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474720" cy="347472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todos los endpoints del servidor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583184"/>
            <a:ext cx="7997985" cy="402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 		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generals</a:t>
            </a:r>
          </a:p>
          <a:p>
            <a:endParaRPr lang="en-US" dirty="0"/>
          </a:p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 		Endpoints de red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dirty="0">
              <a:solidFill>
                <a:srgbClr val="7D9D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 		Endpoints de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dirty="0">
              <a:solidFill>
                <a:srgbClr val="7D9D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 		Endpoints de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dirty="0">
              <a:solidFill>
                <a:srgbClr val="7D9D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 		Endpoints de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</a:p>
          <a:p>
            <a:endParaRPr lang="en-US" dirty="0"/>
          </a:p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	POIs y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dirty="0">
              <a:solidFill>
                <a:srgbClr val="7D9D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 		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dirty="0">
              <a:solidFill>
                <a:srgbClr val="7D9D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  <a:p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 		Salud del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03120" y="557784"/>
            <a:ext cx="6397785" cy="36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946404"/>
            <a:ext cx="1402254" cy="36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03120" y="946404"/>
            <a:ext cx="6397785" cy="36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06908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API</a:t>
            </a:r>
          </a:p>
          <a:p>
            <a:endParaRPr lang="en-US" sz="16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 Endpoints de red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16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/network/status</a:t>
            </a:r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/network/load</a:t>
            </a:r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/network/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</a:t>
            </a:r>
            <a:endParaRPr lang="en-US" sz="1400" dirty="0">
              <a:solidFill>
                <a:srgbClr val="7D9D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/network/reset</a:t>
            </a:r>
          </a:p>
          <a:p>
            <a:pPr lvl="1"/>
            <a:endParaRPr lang="en-US" sz="1600" dirty="0">
              <a:solidFill>
                <a:srgbClr val="7D9D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 Endpoints de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600" dirty="0"/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/route/calculate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/route/last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/route/batch</a:t>
            </a:r>
          </a:p>
          <a:p>
            <a:pPr lvl="1"/>
            <a:endParaRPr lang="en-US" sz="1600" dirty="0"/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 Endpoints de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1600" dirty="0"/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PUT / DELETE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/obstacles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/obstacles/import</a:t>
            </a:r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/obstacles/export</a:t>
            </a:r>
          </a:p>
        </p:txBody>
      </p:sp>
      <p:sp>
        <p:nvSpPr>
          <p:cNvPr id="34" name="Text 32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90F6A16D-1F7A-CDED-5859-F8CC16530B81}"/>
              </a:ext>
            </a:extLst>
          </p:cNvPr>
          <p:cNvSpPr/>
          <p:nvPr/>
        </p:nvSpPr>
        <p:spPr>
          <a:xfrm>
            <a:off x="4572000" y="50292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 Endpoints de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1600" dirty="0"/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/temporal/activate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r>
              <a:rPr lang="en-US" sz="14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/temporal/status</a:t>
            </a:r>
          </a:p>
          <a:p>
            <a:pPr lvl="1"/>
            <a:endParaRPr lang="en-US" sz="1600" dirty="0"/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 Endpoints de POIs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C.7 Endpoints de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(admin)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 Endpoints de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6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600" dirty="0"/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 Endpoint de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C.10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error HTTP </a:t>
            </a:r>
            <a:r>
              <a:rPr lang="en-US" sz="16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endParaRPr lang="en-US" sz="16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  Convenciones generales de la API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aplicables a todos los endpoints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http://&lt;HOST&gt;:&lt;PORT&gt;/api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datos: JSON en todas las peticiones y respuestas.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Autenticación: sesión Flask mediante cookie de sesión (login requerido para rutas protegidas).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en cabeceras: X-User-Role: guest | user | admin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Coordenadas: siempre en formato [longitud, latitud] (GeoJSON estándar).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CRS: EPSG:4258 (ETRS89 geográfico) en todos los datos espaciales devueltos.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Paginación: parámetros ?page=N&amp;limit=M donde aplique.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Timestamps: ISO 8601 UTC (ej. 2026-04-15T10:30:00Z).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7A86-1467-7664-C715-9171EB78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2C3FBD-A23C-8CEF-B631-1F0996638BE4}"/>
              </a:ext>
            </a:extLst>
          </p:cNvPr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b="1" dirty="0">
              <a:solidFill>
                <a:srgbClr val="1B2A4A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604151-3496-BF76-2C68-E411EF68416F}"/>
              </a:ext>
            </a:extLst>
          </p:cNvPr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E6B565C-A7E1-8408-7F26-08AB01C6A9CB}"/>
              </a:ext>
            </a:extLst>
          </p:cNvPr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71092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  Endpoints de red viaria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grafo de red en memoria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/api/network/status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del grafo cargado en memoria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/api/network/load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red viaria desde archivo subido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/api/network/geojson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 la red actual como GeoJSON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/api/network/reset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Descargar la red y liberar memoria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  Detalle: POST /api/network/load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un archivo de red viaria en el servidor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Content-Type: multipart/form-data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requerido: file — archivo .geojson, .zip (shapefile) o .gpkg.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200: {"status": "loaded", "nodes": N, "edges": M, "crs": "EPSG:4258"}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400: {"error": "unsupported_format", "message": "..."}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413: {"error": "file_too_large"} — límite 50 MB.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reproyecta automáticamente a EPSG:4258 si es necesario.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D1FF-E65E-9B2F-7693-5425E830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74C0BB-C955-1133-C94C-F4C918D84DD6}"/>
              </a:ext>
            </a:extLst>
          </p:cNvPr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b="1" dirty="0">
              <a:solidFill>
                <a:srgbClr val="1B2A4A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4B60BB-0B61-0EB6-4240-6F4030A79676}"/>
              </a:ext>
            </a:extLst>
          </p:cNvPr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4C01AE-BFBE-AE1E-45E7-432FAFEC09B9}"/>
              </a:ext>
            </a:extLst>
          </p:cNvPr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27109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  Endpoints de cálculo de rutas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Dijkstra con pesos dinámicos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/api/route/calculate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ruta óptima con Dijkstra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/api/route/last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Recuperar la última ruta calculada en sesión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/api/route/batch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múltiples rutas en una sola petición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  Detalle: POST /api/route/calculate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entrada y respuesta del cálculo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JSON: {"origin": [lon, lat], "destination": [lon, lat], "vehicle": "light|heavy|emergency", "temporal_factor": 1.0}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temporal_factor: multiplicador de pesos (1.0 = normal, &gt;1 = congestión).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200: {"route": &lt;GeoJSON LineString&gt;, "distance_km": X, "time_s": Y, "avg_speed_kmh": Z}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404: {"error": "no_path"} — no existe ruta entre los puntos dados.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400: {"error": "no_graph"} — red viaria no cargada.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obstáculos activos en sesión se incorporan automáticamente al grafo.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D69C-6FC3-1923-9ACC-9A6E2356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F3339D-7C2A-0707-2CA9-0509E5F616C8}"/>
              </a:ext>
            </a:extLst>
          </p:cNvPr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b="1" dirty="0">
              <a:solidFill>
                <a:srgbClr val="1B2A4A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D0AE9F-D1AF-379F-45AE-9F0C0F2F941F}"/>
              </a:ext>
            </a:extLst>
          </p:cNvPr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5B5FF47-2DAD-7005-10E7-BDB552A00B07}"/>
              </a:ext>
            </a:extLst>
          </p:cNvPr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02944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  Endpoints de obstáculos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obstáculos + importación/exportación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2560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/api/obstacles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obstáculos activos en sesión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/api/obstacles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nuevo obstáculo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/api/obstacles/{id}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porcentaje de obstrucción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/api/obstacles/{id}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obstáculo por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/api/obstacles/import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Importar obstáculos desde archivo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/api/obstacles/export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Exportar obstáculos a .gpkg/.shp/.csv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A606-20CB-B71D-608C-A3DB0B20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6D6170-B497-207D-108D-4CAB74A11985}"/>
              </a:ext>
            </a:extLst>
          </p:cNvPr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b="1" dirty="0">
              <a:solidFill>
                <a:srgbClr val="1B2A4A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710AF8-267A-4CE8-2A3D-B1B4FABDE53F}"/>
              </a:ext>
            </a:extLst>
          </p:cNvPr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993A2C-8C28-B1D1-2244-B8AD0C6A5F7E}"/>
              </a:ext>
            </a:extLst>
          </p:cNvPr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2195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  Endpoints de simulación temporal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y consultar factores de congestión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/api/temporal/activate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Activar simulación con día y hora dados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/api/temporal/status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actual de la simulación temporal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/api/temporal/factors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 factores de congestión actuales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/api/temporal/reset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Desactivar simulación y restaurar pesos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  Detalle: POST /api/temporal/activate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de la simulación con día y hora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JSON: {"day": "monday|tuesday|...|sunday", "hour": 0-23}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200: {"active": true, "day": "monday", "hour": 8, "congested_edges": N, "active_pois": M}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calcula el coeficiente temporal para cada arista del grafo.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congestión: 1.0 (libre) a 1.55+ (muy congestionado).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de las vías en el mapa se actualizan automáticamente via WebSocket.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4EFC-E7E0-D12F-ADB9-6000CF2E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338E4-4173-8B34-5783-34C88F91D383}"/>
              </a:ext>
            </a:extLst>
          </p:cNvPr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b="1" dirty="0">
              <a:solidFill>
                <a:srgbClr val="1B2A4A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4C6395-626E-8B6D-0B7C-5E2FD38F7022}"/>
              </a:ext>
            </a:extLst>
          </p:cNvPr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EC14A43-9943-6F6A-9DAE-111C753A6A5A}"/>
              </a:ext>
            </a:extLst>
          </p:cNvPr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32478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  Endpoints de POIs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Interés: consulta y exportación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2194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todos los POIs con atributos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/api/pois/{id}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de un POI específico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/api/pois/load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capa de POIs desde archivo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/api/pois/nearby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 en radio de un punto ?lat=X&amp;lon=Y&amp;r=M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/api/pois/geojson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Exportar todos los POIs como GeoJSON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C.7  Endpoints de eventos especiales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accesible con rol admin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eventos especiales activos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nuevo evento con polígono y parámetros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afluencia o duración de un evento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evento y restaurar pesos afectados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/api/events/export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Exportar eventos a .gpkg o .shp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608C-BCD3-C1C5-DD1D-671C2522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3CFF0A-BD7A-754D-15A1-4D8EB68386CF}"/>
              </a:ext>
            </a:extLst>
          </p:cNvPr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dirty="0"/>
          </a:p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b="1" dirty="0">
              <a:solidFill>
                <a:srgbClr val="1B2A4A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dirty="0"/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50B226-1F50-AF7E-CA2E-96A3C7832850}"/>
              </a:ext>
            </a:extLst>
          </p:cNvPr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9BEE14-F146-4525-9C52-75AAFF324B6D}"/>
              </a:ext>
            </a:extLst>
          </p:cNvPr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76609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  Autenticación y usuarios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sesiones y roles de usuario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2560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Iniciar sesión con usuario y contraseña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Cerrar sesión y destruir cookie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 perfil y rol del usuario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nuevo usuario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/api/users/{id}/role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rol de usuario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usuario del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2CC9-2B2D-CA58-A6A6-2FF6A2B1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BF1954-C1D7-3E18-911A-8FCEABA30825}"/>
              </a:ext>
            </a:extLst>
          </p:cNvPr>
          <p:cNvSpPr/>
          <p:nvPr/>
        </p:nvSpPr>
        <p:spPr>
          <a:xfrm>
            <a:off x="502920" y="64008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		Endpoints de red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viaria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		Endpoints de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</a:t>
            </a:r>
            <a:endParaRPr lang="en-US" sz="2800" dirty="0">
              <a:solidFill>
                <a:srgbClr val="7D9DB5"/>
              </a:solidFill>
            </a:endParaRPr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C.6–C.7	POIs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2800" dirty="0"/>
          </a:p>
          <a:p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C.8		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28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dirty="0" err="1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800" dirty="0"/>
          </a:p>
          <a:p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C.9–C.10	Salud del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8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</a:t>
            </a:r>
            <a:endParaRPr lang="en-US" sz="2800" b="1" dirty="0">
              <a:solidFill>
                <a:srgbClr val="1B2A4A"/>
              </a:solidFill>
            </a:endParaRPr>
          </a:p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6EE838-55E7-0C9D-9A90-724BFEA04C07}"/>
              </a:ext>
            </a:extLst>
          </p:cNvPr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EE9AA33-27C3-EDD8-9CB6-783DBBEF9E7E}"/>
              </a:ext>
            </a:extLst>
          </p:cNvPr>
          <p:cNvSpPr/>
          <p:nvPr/>
        </p:nvSpPr>
        <p:spPr>
          <a:xfrm>
            <a:off x="502920" y="475488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4391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  Endpoint de salud del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— respuesta en JSON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"ok" | "degraded" | "error"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"loaded" | "empty" — estado del grafo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"connected" | "disconnected"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nodos en el grafo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aristas en el grafo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uptime_s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 desde el arranque del servidor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C.10  Códigos de error HTTP estándar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estándar de la API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se devuelve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Petición completada con éxito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 creado correctamente (POST)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entrada inválidos o faltantes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 no iniciada o expirada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insuficiente para la operación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 o ruta no encontrado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Conflicto de estado (ej. grafo ya cargado)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Too Large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 supera el límite de 50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Server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inesperado del servidor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474720" cy="347472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C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2333</Words>
  <Application>Microsoft Office PowerPoint</Application>
  <PresentationFormat>Presentación en pantalla (16:9)</PresentationFormat>
  <Paragraphs>427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GeoRuta – Anexo C: Estructura de la API REST</dc:title>
  <dc:subject>PptxGenJS Presentation</dc:subject>
  <dc:creator>GeoRuta · ETSITGC · UPM</dc:creator>
  <cp:lastModifiedBy>JORGE GARCIA SANZ</cp:lastModifiedBy>
  <cp:revision>3</cp:revision>
  <dcterms:created xsi:type="dcterms:W3CDTF">2026-06-07T22:00:37Z</dcterms:created>
  <dcterms:modified xsi:type="dcterms:W3CDTF">2026-06-07T22:39:36Z</dcterms:modified>
</cp:coreProperties>
</file>