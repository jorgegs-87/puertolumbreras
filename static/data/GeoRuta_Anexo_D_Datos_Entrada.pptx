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2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474720" cy="347472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Entrada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esperado de todos los datos que recibe GeoRuta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D.1–D.3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(GeoJSON / Shapefile / GPKG)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D.4–D.5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(CSV / GeoJSON)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 (POIs)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D.7–D.9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 la API (rutas, eventos, temporal)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 y formatos aceptados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— Formato GeoJSON (.geojson)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— Shapefile (.zip)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— GeoPackage (.gpkg)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— Formato CSV (.csv)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3317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— Formato GeoJSON (.geojson)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7889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 (POIs)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2461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de ruta — POST /api/route/calculate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especial — POST /api/events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4160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1605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temporal — POST /api/temporal/activate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6177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 generales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D.1–D.3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(GeoJSON / Shapefile / GPKG)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D.4–D.5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(CSV / GeoJSON)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 (POIs)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D.7–D.9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 la API (rutas, eventos, temporal)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 y formatos aceptados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  Red viaria — Formato GeoJSON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y geometría esperados (.geojson)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geometría: LineString o MultiLineString por cada entidad vial.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CRS: cualquier sistema; el servidor reproyecta automáticamente a EPSG:4258.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requeridos: ninguno (la geometría es suficiente para construir el grafo).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opcionales: highway, maxspeed, oneway, lanes, name.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highway: tipo de vía OSM (motorway, primary, secondary, residential, footway…).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maxspeed: velocidad máxima en km/h como entero o string (ej. "50", "30").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oneway: "yes"/"true"/"1" para vías de sentido único; se respeta en el grafo dirigido.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lanes: número de carriles (entero positivo); influye en el peso de la arista.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D.2  Red viaria — Shapefile (.zip)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archivo ZIP y sus componentes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.zip debe contener: .shp, .dbf, .prj (obligatorio) y .shx.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.prj define el sistema de referencia de coordenadas (CRS).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.prj el servidor asume EPSG:4326 (WGS84) y advierte en el log.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 esperada: Polyline (equivalente a LineString en formato ESRI).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columnas admitidos: highway/HIGHWAY, maxspeed/MAXSPEED, oneway/ONEWAY.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atributos: UTF-8 o Latin-1; se detecta automáticamente.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  Red viaria — GeoPackage (.gpkg)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recomendado para intercambio entre sesiones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esperada: primera capa de geometría tipo LineString/MultiLineString.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.gpkg contiene múltiples capas, se usa la primera capa vectorial encontrada.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almacenado en el propio .gpkg; se reproyecta automáticamente.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opcionales con los mismos nombres que en GeoJSON (ver D.1).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recomendado para exportación/importación entre sesiones GeoRuta.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D.1–D.3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(GeoJSON / Shapefile / GPKG)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D.4–D.5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(CSV / GeoJSON)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 (POIs)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D.7–D.9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 la API (rutas, eventos, temporal)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 y formatos aceptados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 Obstáculos — Formato CSV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requeridas y ejemplo de fila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requeridas: id, Nombre, coord_lat, coord_lon, Porcentaje.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identificador único del obstáculo (string o entero).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nombre descriptivo del obstáculo o de la calle afectada.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coord_lat: latitud del marcador en grados decimales (ETRS89 o WGS84).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coord_lon: longitud del marcador en grados decimales.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Porcentaje: nivel de obstrucción de 0 a 99 (entero o decimal).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Separador: coma (,) con cabecera en la primera fila.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1,Avenida_Principal,37.5678,-1.8234,75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D.5  Obstáculos — Formato GeoJSON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FeatureCollection de puntos con propiedades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FeatureCollection con Features de geometría Point.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requeridas en cada Feature: id, Nombre, Porcentaje.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coordenadas [lon, lat] se usan como posición del marcador 🚧.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opcionales: descripcion, fecha_inicio, fecha_fin, nivel.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calculado automáticamente: &lt;25 = Leve, 25–50 = Moderado, 51–75 = Severo, &gt;75 = Máximo.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Compatibles .gpkg y .shp (ZIP) con las mismas columnas que en CSV.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D.1–D.3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(GeoJSON / Shapefile / GPKG)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D.4–D.5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(CSV / GeoJSON)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 (POIs)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D.7–D.9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 la API (rutas, eventos, temporal)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 y formatos aceptados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  Puntos de Interés (POIs)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esperado y atributos OSM reconocidos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preferido: GeoJSON FeatureCollection con geometría Point.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recomendados: name, amenity/shop/leisure (categoría OSM), address.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OSM (amenity, shop, leisure) determina el icono y franja horaria.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amenity: school, hospital, church, fuel, police, fire_station.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opening_hours: string en formato OSM (ej. "Mo-Fr 09:00-18:00").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aceptan .gpkg, .shp (ZIP) y .csv con columnas lat, lon, name, type.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 sin categoría reconocida se muestran como marcador genérico sin franja horaria.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D.1–D.3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(GeoJSON / Shapefile / GPKG)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D.4–D.5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(CSV / GeoJSON)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 (POIs)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D.7–D.9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 la API (rutas, eventos, temporal)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 y formatos aceptados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  Petición de ruta — POST /api/route/calculate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del cuerpo JSON de la petición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[número, número] — coordenadas [longitud, latitud] del punto de origen.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destination: [número, número] — coordenadas del punto de destino.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vehicle: string — "light" (veh. ligero), "heavy" (veh. pesado) o "emergency".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temporal_factor: número decimal — factor multiplicador de pesos (defecto: 1.0).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obstacles: lista de IDs de obstáculos a considerar (opcional, vacío = todos los activos).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{"origin": [-1.8234, 37.5678], "destination": [-1.8100, 37.5800], "vehicle": "emergency", "temporal_factor": 1.3}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D.8  Evento especial — POST /api/events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para crear un evento con polígono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string — nombre identificativo del evento.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geometry: GeoJSON Polygon — área geográfica del evento.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número 0–100 — porcentaje de afluencia estimada.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duration_h: número — duración del evento en horas.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start_time: string ISO 8601 — fecha y hora de inicio (ej. "2026-06-15T20:00:00Z").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penalty_factor calculado internamente: 1 + attendance/100 × 3 (máximo 4.0).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{"name": "Feria", "geometry": {...}, "attendance": 80, "duration_h": 6, "start_time": "2026-08-12T18:00:00Z"}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D.9  Activación temporal — POST /api/temporal/activate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para simular un instante de la semana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day: string — día de la semana en inglés: "monday" a "sunday".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hour: entero 0–23 — hora del día a simular.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busca en la tabla de franjas horarias por tipo de POI.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factor de congestión por arista según proximidad a POIs activos.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incluye: congested_edges (aristas con factor &gt; 1.0) y active_pois.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{"day": "monday", "hour": 8}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D.1–D.3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viaria (GeoJSON / Shapefile / GPKG)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D.4–D.5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(CSV / GeoJSON)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 (POIs)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D.7–D.9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 la API (rutas, eventos, temporal)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 y formatos aceptados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  Reglas de validación y límites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aplicadas a todos los datos de entrada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máximo de archivo en upload: 50 MB (configurable en config.py).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válidas: latitud en [-90, 90], longitud en [-180, 180].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obstáculo: entero o decimal en [0, 99]. El valor 100 está reservado.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Afluencia de evento: entero en [0, 100].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temporal: entero en [0, 23]; se interpola al minuto más cercano.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vehículo: solo los valores "light", "heavy", "emergency" (case-sensitive).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Geometrías nulas o vacías en archivos de entrada se ignoran con aviso en el log.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de archivos de texto: UTF-8 recomendado; Latin-1 soportado con detección automática.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D.10  Resumen de formatos aceptados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tipo de dato y formato de archivo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054340"/>
              </p:ext>
            </p:extLst>
          </p:nvPr>
        </p:nvGraphicFramePr>
        <p:xfrm>
          <a:off x="457200" y="1170432"/>
          <a:ext cx="8321039" cy="1828800"/>
        </p:xfrm>
        <a:graphic>
          <a:graphicData uri="http://schemas.openxmlformats.org/drawingml/2006/table">
            <a:tbl>
              <a:tblPr/>
              <a:tblGrid>
                <a:gridCol w="2423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4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dato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Shapefile ZIP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viaria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(preferido)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(con lat/lon)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Obstáculos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(preferido)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especiales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(API JSON)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474720" cy="347472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1942</Words>
  <Application>Microsoft Office PowerPoint</Application>
  <PresentationFormat>Presentación en pantalla (16:9)</PresentationFormat>
  <Paragraphs>239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GeoRuta – Anexo D: Estructura de Datos de Entrada</dc:title>
  <dc:subject>PptxGenJS Presentation</dc:subject>
  <dc:creator>GeoRuta · ETSITGC · UPM</dc:creator>
  <cp:lastModifiedBy>JORGE GARCIA SANZ</cp:lastModifiedBy>
  <cp:revision>2</cp:revision>
  <dcterms:created xsi:type="dcterms:W3CDTF">2026-06-07T22:00:37Z</dcterms:created>
  <dcterms:modified xsi:type="dcterms:W3CDTF">2026-06-07T22:40:29Z</dcterms:modified>
</cp:coreProperties>
</file>